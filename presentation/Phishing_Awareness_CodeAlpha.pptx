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50292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 AWARENESS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Prevention Guide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474720" y="3611880"/>
            <a:ext cx="2194560" cy="457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Alert. Stay Safe. Stay Ahead.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64008" cy="7498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235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3898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key statistics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709928"/>
            <a:ext cx="41148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09928"/>
            <a:ext cx="64008" cy="7498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7647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20299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 Attacks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2311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Smishing, Vishing &amp; more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41148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51176"/>
            <a:ext cx="64008" cy="7498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606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" y="28712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to Watch For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0723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a phishing attempt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392424"/>
            <a:ext cx="41148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92424"/>
            <a:ext cx="64008" cy="7498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4472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" y="37124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Phishing Email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39136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annotated example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233672"/>
            <a:ext cx="41148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233672"/>
            <a:ext cx="64008" cy="7498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42885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" y="4553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Check a Safe URL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47548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domain spelling &amp; more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868680"/>
            <a:ext cx="41148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868680"/>
            <a:ext cx="64008" cy="7498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9235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19472" y="1188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 Case Study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9472" y="13898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2020 breach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709928"/>
            <a:ext cx="41148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1709928"/>
            <a:ext cx="64008" cy="7498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17647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19472" y="20299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If Targeted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19472" y="22311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steps &amp; reporting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551176"/>
            <a:ext cx="41148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551176"/>
            <a:ext cx="64008" cy="7498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2606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919472" y="28712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Time!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19472" y="30723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phishing signs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392424"/>
            <a:ext cx="41148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392424"/>
            <a:ext cx="64008" cy="7498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34472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919472" y="37124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Click Checklist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19472" y="39136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quick checks to stay safe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233672"/>
            <a:ext cx="41148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4233672"/>
            <a:ext cx="64008" cy="7498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19472" y="42885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919472" y="4553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19472" y="47548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golden rules to remember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PHISHING?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FF4D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5156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</a:t>
            </a:r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cyber attack where criminals disguise themselves as trusted entities to trick victims into revealing </a:t>
            </a:r>
            <a:pPr indent="0" marL="0">
              <a:buNone/>
            </a:pPr>
            <a:r>
              <a:rPr lang="en-US" sz="14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information</a:t>
            </a:r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such as passwords, credit cards, or login credentials.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188720" y="2377440"/>
            <a:ext cx="3383280" cy="237744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88720" y="2377440"/>
            <a:ext cx="3383280" cy="640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57860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3.4B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371600" y="354787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are sent every single day worldwide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2377440"/>
            <a:ext cx="3383280" cy="237744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2377440"/>
            <a:ext cx="3383280" cy="640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57860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36%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5212080" y="354787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data breaches globally involve phishing as the entry point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 OF PHISHING ATTACKS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78892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64008" cy="18745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2471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1618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19659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impersonating banks, brands or IT teams with malicious links or attachments.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55264" y="960120"/>
            <a:ext cx="278892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55264" y="960120"/>
            <a:ext cx="64008" cy="18745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12471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38144" y="1618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38144" y="19659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attacks using personal details about the victim to appear legitimate.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54496" y="960120"/>
            <a:ext cx="278892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54496" y="960120"/>
            <a:ext cx="64008" cy="18745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124712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37376" y="1618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37376" y="19659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SMS-based phishing using fake alerts from delivery services, banks, or government agencies.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56032" y="3017520"/>
            <a:ext cx="278892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56032" y="3017520"/>
            <a:ext cx="64008" cy="18745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182112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38912" y="36758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38912" y="40233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 phishing where attackers pose as tech support, IRS, or bank officials.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55264" y="3017520"/>
            <a:ext cx="278892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55264" y="3017520"/>
            <a:ext cx="64008" cy="1874520"/>
          </a:xfrm>
          <a:prstGeom prst="rect">
            <a:avLst/>
          </a:prstGeom>
          <a:solidFill>
            <a:srgbClr val="9C59D1"/>
          </a:solidFill>
          <a:ln w="12700">
            <a:solidFill>
              <a:srgbClr val="9C59D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3182112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438144" y="36758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438144" y="40233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Clones a legitimate email previously sent, replacing real links with malicious ones.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54496" y="3017520"/>
            <a:ext cx="278892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54496" y="3017520"/>
            <a:ext cx="64008" cy="18745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3182112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37376" y="36758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437376" y="40233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senior executives (CEOs, CFOs) with sophisticated, high-value fraud attempts.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 FLAGS TO WATCH FOR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5196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5196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61288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97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Pressure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4630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demanding immediate action ('Your account will be suspended!')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960120"/>
            <a:ext cx="425196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960120"/>
            <a:ext cx="425196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161288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097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77840" y="14630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that don't match the sender's domain or contain misspellings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2331720"/>
            <a:ext cx="425196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331720"/>
            <a:ext cx="425196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532888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468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Sender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51560" y="28346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from unrecognized addresses or slightly altered domain names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00600" y="2331720"/>
            <a:ext cx="425196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331720"/>
            <a:ext cx="425196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532888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2468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577840" y="28346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'Dear Customer' instead of your actual name — a mass phishing sign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74320" y="3703320"/>
            <a:ext cx="425196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74320" y="3703320"/>
            <a:ext cx="425196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904488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38404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Grammar/Spelling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51560" y="42062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grammar, spelling mistakes, or awkward sentence structure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800600" y="3703320"/>
            <a:ext cx="425196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00600" y="3703320"/>
            <a:ext cx="425196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904488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77840" y="38404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Credentials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577840" y="42062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email asking for passwords, PINs, or sensitive personal data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ANATOMY OF A PHISHING EMAIL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00" cy="3840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029200" cy="384048"/>
          </a:xfrm>
          <a:prstGeom prst="rect">
            <a:avLst/>
          </a:prstGeom>
          <a:solidFill>
            <a:srgbClr val="E9ECE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— Gmail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264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security-alert@paypa1.com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⚠️ Urgent: Your account will be SUSPENDED!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48463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57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noticed unusual activity on your PayPal account. To avoid suspension, verify your identity immediately.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3017520"/>
            <a:ext cx="2560320" cy="411480"/>
          </a:xfrm>
          <a:prstGeom prst="rect">
            <a:avLst/>
          </a:prstGeom>
          <a:solidFill>
            <a:srgbClr val="0070BA"/>
          </a:solidFill>
          <a:ln w="12700">
            <a:solidFill>
              <a:srgbClr val="0070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Now 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7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http://paypa1-verify.xyz/login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794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Security Team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1581912"/>
            <a:ext cx="548640" cy="0"/>
          </a:xfrm>
          <a:prstGeom prst="line">
            <a:avLst/>
          </a:prstGeom>
          <a:noFill/>
          <a:ln w="19050">
            <a:solidFill>
              <a:srgbClr val="FF4D4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943600" y="1490472"/>
            <a:ext cx="2834640" cy="502920"/>
          </a:xfrm>
          <a:prstGeom prst="rect">
            <a:avLst/>
          </a:prstGeom>
          <a:solidFill>
            <a:srgbClr val="2D1B1B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domain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'paypa1' ≠ 'paypal'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94960" y="1828800"/>
            <a:ext cx="548640" cy="0"/>
          </a:xfrm>
          <a:prstGeom prst="line">
            <a:avLst/>
          </a:prstGeom>
          <a:noFill/>
          <a:ln w="19050">
            <a:solidFill>
              <a:srgbClr val="FF4D4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0" y="1737360"/>
            <a:ext cx="2834640" cy="502920"/>
          </a:xfrm>
          <a:prstGeom prst="rect">
            <a:avLst/>
          </a:prstGeom>
          <a:solidFill>
            <a:srgbClr val="2D1B1B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7556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panic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CAPS &amp; emojis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94960" y="2221992"/>
            <a:ext cx="548640" cy="0"/>
          </a:xfrm>
          <a:prstGeom prst="line">
            <a:avLst/>
          </a:prstGeom>
          <a:noFill/>
          <a:ln w="19050">
            <a:solidFill>
              <a:srgbClr val="FF4D4D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0" y="2130552"/>
            <a:ext cx="2834640" cy="502920"/>
          </a:xfrm>
          <a:prstGeom prst="rect">
            <a:avLst/>
          </a:prstGeom>
          <a:solidFill>
            <a:srgbClr val="2D1B1B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148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real name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94960" y="3666744"/>
            <a:ext cx="548640" cy="0"/>
          </a:xfrm>
          <a:prstGeom prst="line">
            <a:avLst/>
          </a:prstGeom>
          <a:noFill/>
          <a:ln w="19050">
            <a:solidFill>
              <a:srgbClr val="FF4D4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943600" y="3575304"/>
            <a:ext cx="2834640" cy="502920"/>
          </a:xfrm>
          <a:prstGeom prst="rect">
            <a:avLst/>
          </a:prstGeom>
          <a:solidFill>
            <a:srgbClr val="2D1B1B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5935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URL: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paypal.com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CHECK A SAFE URL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2D1414"/>
          </a:solidFill>
          <a:ln w="12700">
            <a:solidFill>
              <a:srgbClr val="FF4D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www.paypa1-login.xyz/verify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040880" y="10058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UNSAFE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solidFill>
            <a:srgbClr val="142D14"/>
          </a:solidFill>
          <a:ln w="12700">
            <a:solidFill>
              <a:srgbClr val="28A7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92024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19202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https://www.paypal.com/signin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2743200" cy="192024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0" y="2999232"/>
            <a:ext cx="640080" cy="640080"/>
          </a:xfrm>
          <a:prstGeom prst="ellipse">
            <a:avLst/>
          </a:prstGeom>
          <a:solidFill>
            <a:srgbClr val="4285F4">
              <a:alpha val="20000"/>
            </a:srgbClr>
          </a:solidFill>
          <a:ln w="12700">
            <a:solidFill>
              <a:srgbClr val="4285F4">
                <a:alpha val="4000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3026664"/>
            <a:ext cx="5029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75488" y="37033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Padlock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" y="406908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look for 'https://' and the padlock icon. HTTP (without S) is never secure for logins.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337560" y="2880360"/>
            <a:ext cx="2743200" cy="192024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43400" y="2999232"/>
            <a:ext cx="640080" cy="640080"/>
          </a:xfrm>
          <a:prstGeom prst="ellipse">
            <a:avLst/>
          </a:prstGeom>
          <a:solidFill>
            <a:srgbClr val="FFD700">
              <a:alpha val="20000"/>
            </a:srgbClr>
          </a:solidFill>
          <a:ln w="12700">
            <a:solidFill>
              <a:srgbClr val="FFD700">
                <a:alpha val="4000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3026664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47288" y="37033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Domain Spelling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447288" y="406908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 lookalike domains: 'paypa1', 'paypa1.xyz', 'paypal-secure.net' — none is real.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309360" y="2880360"/>
            <a:ext cx="2743200" cy="192024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315200" y="2999232"/>
            <a:ext cx="640080" cy="640080"/>
          </a:xfrm>
          <a:prstGeom prst="ellipse">
            <a:avLst/>
          </a:prstGeom>
          <a:solidFill>
            <a:srgbClr val="28A745">
              <a:alpha val="20000"/>
            </a:srgbClr>
          </a:solidFill>
          <a:ln w="12700">
            <a:solidFill>
              <a:srgbClr val="28A745">
                <a:alpha val="4000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3026664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19088" y="37033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Extension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419088" y="406908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sites use .com / .org / .gov — be wary of .xyz, .tk, .top, or unfamiliar suffixes.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CASE STUDY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0058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Twitter Hack — July 2020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54480" y="1463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social media security breach in history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965960"/>
            <a:ext cx="2011680" cy="265176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965960"/>
            <a:ext cx="2011680" cy="640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51560" y="2084832"/>
            <a:ext cx="640080" cy="640080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0848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75488" y="283464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75488" y="324612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called Twitter employees impersonating Twitter IT support — a classic vishing attack.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60320" y="1965960"/>
            <a:ext cx="2011680" cy="265176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60320" y="1965960"/>
            <a:ext cx="201168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46120" y="2084832"/>
            <a:ext cx="640080" cy="6400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46120" y="20848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670048" y="283464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Stolen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670048" y="324612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believing it was a real IT call, handed over their VPN credentials and internal system access.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54880" y="1965960"/>
            <a:ext cx="2011680" cy="265176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1965960"/>
            <a:ext cx="2011680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40680" y="2084832"/>
            <a:ext cx="640080" cy="64008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40680" y="20848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864608" y="283464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Compromised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864608" y="324612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accessed accounts of Obama, Biden, Musk, Apple &amp; more — tweeting a Bitcoin scam.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949440" y="1965960"/>
            <a:ext cx="2011680" cy="265176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949440" y="1965960"/>
            <a:ext cx="2011680" cy="640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35240" y="2084832"/>
            <a:ext cx="640080" cy="64008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635240" y="20848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7059168" y="283464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$120,000+ Stolen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059168" y="324612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400 people sent Bitcoin before Twitter could shut it down. Arrests followed months later.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Lesson: 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world's largest platforms can be compromised by a single phishing call. No one is immune.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TO DO IF YOU'RE TARGETED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38404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✔  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023360" cy="594360"/>
          </a:xfrm>
          <a:prstGeom prst="rect">
            <a:avLst/>
          </a:prstGeom>
          <a:solidFill>
            <a:srgbClr val="21262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98448"/>
            <a:ext cx="64008" cy="59436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441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email to your IT/security team immediately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956816"/>
            <a:ext cx="4023360" cy="594360"/>
          </a:xfrm>
          <a:prstGeom prst="rect">
            <a:avLst/>
          </a:prstGeom>
          <a:solidFill>
            <a:srgbClr val="21262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56816"/>
            <a:ext cx="64008" cy="59436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025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email as phishing or spam in your mail client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4023360" cy="594360"/>
          </a:xfrm>
          <a:prstGeom prst="rect">
            <a:avLst/>
          </a:prstGeom>
          <a:solidFill>
            <a:srgbClr val="21262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15184"/>
            <a:ext cx="64008" cy="59436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609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passwords if you accidentally clicked a link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273552"/>
            <a:ext cx="4023360" cy="594360"/>
          </a:xfrm>
          <a:prstGeom prst="rect">
            <a:avLst/>
          </a:prstGeom>
          <a:solidFill>
            <a:srgbClr val="21262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273552"/>
            <a:ext cx="64008" cy="59436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192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 on all accounts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4023360" cy="594360"/>
          </a:xfrm>
          <a:prstGeom prst="rect">
            <a:avLst/>
          </a:prstGeom>
          <a:solidFill>
            <a:srgbClr val="21262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31920"/>
            <a:ext cx="64008" cy="59436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bank if financial data was compromised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914400"/>
            <a:ext cx="4023360" cy="38404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✘  DON'T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6320" y="1298448"/>
            <a:ext cx="4023360" cy="594360"/>
          </a:xfrm>
          <a:prstGeom prst="rect">
            <a:avLst/>
          </a:prstGeom>
          <a:solidFill>
            <a:srgbClr val="21262D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298448"/>
            <a:ext cx="64008" cy="59436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3441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links or download attachments in suspect emails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1956816"/>
            <a:ext cx="4023360" cy="594360"/>
          </a:xfrm>
          <a:prstGeom prst="rect">
            <a:avLst/>
          </a:prstGeom>
          <a:solidFill>
            <a:srgbClr val="21262D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1956816"/>
            <a:ext cx="64008" cy="59436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0025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the phishing email or call numbers in the email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2615184"/>
            <a:ext cx="4023360" cy="594360"/>
          </a:xfrm>
          <a:prstGeom prst="rect">
            <a:avLst/>
          </a:prstGeom>
          <a:solidFill>
            <a:srgbClr val="21262D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615184"/>
            <a:ext cx="64008" cy="59436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6609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credentials on any linked website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3273552"/>
            <a:ext cx="4023360" cy="594360"/>
          </a:xfrm>
          <a:prstGeom prst="rect">
            <a:avLst/>
          </a:prstGeom>
          <a:solidFill>
            <a:srgbClr val="21262D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273552"/>
            <a:ext cx="64008" cy="59436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3192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the email — always report it to your security team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931920"/>
            <a:ext cx="4023360" cy="594360"/>
          </a:xfrm>
          <a:prstGeom prst="rect">
            <a:avLst/>
          </a:prstGeom>
          <a:solidFill>
            <a:srgbClr val="21262D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931920"/>
            <a:ext cx="64008" cy="59436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the email to others, even as a joke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QUIZ TIME – SPOT THE PHISHING SIGNS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846320" cy="347472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846320" cy="365760"/>
          </a:xfrm>
          <a:prstGeom prst="rect">
            <a:avLst/>
          </a:prstGeom>
          <a:solidFill>
            <a:srgbClr val="E9ECE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96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— Outlook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4081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it-support@micros0ft-helpdesk.net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🔴 ACTION REQUIRED: Reset your password NOW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47672"/>
            <a:ext cx="466344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9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User,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Microsoft account has been compromised. You must reset your password within 24 hours or your account will be permanently deleted.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88720" y="3017520"/>
            <a:ext cx="256032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 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Click: http://micros0ft-reset.xyz/login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94960" y="960120"/>
            <a:ext cx="3383280" cy="137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looks suspicious?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143560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Sender domain: 'micros0ft' (zero, not O)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32120" y="16459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Generic 'Dear User' greeting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532120" y="185623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Extreme urgency &amp; fear tactics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32120" y="206654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Link goes to .xyz, not microsoft.com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94960" y="2514600"/>
            <a:ext cx="3383280" cy="1920240"/>
          </a:xfrm>
          <a:prstGeom prst="rect">
            <a:avLst/>
          </a:prstGeom>
          <a:solidFill>
            <a:srgbClr val="21262D"/>
          </a:solidFill>
          <a:ln w="12700">
            <a:solidFill>
              <a:srgbClr val="FF4D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3212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Would you click this?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77840" y="3017520"/>
            <a:ext cx="1371600" cy="41148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3017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178040" y="3017520"/>
            <a:ext cx="1371600" cy="41148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3017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32120" y="3566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NEVER click! 4 red flags detected.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39502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through official website directly.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CLICKING ANY LINK...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through this 5-second checklist every 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65836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44168"/>
            <a:ext cx="438912" cy="438912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441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362456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27632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627632" y="15819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email address match the real domain? Is it a known contact? Any extra letters or numbers?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1984248"/>
            <a:ext cx="84124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1984248"/>
            <a:ext cx="64008" cy="65836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093976"/>
            <a:ext cx="438912" cy="43891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0939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112264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27632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627632" y="23317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clicking, hover your mouse over any link to preview the true destination URL in your browser bar.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5760" y="2734056"/>
            <a:ext cx="84124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5760" y="2734056"/>
            <a:ext cx="64008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2843784"/>
            <a:ext cx="438912" cy="43891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48640" y="28437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86207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27632" y="2807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Urgency Traps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627632" y="30815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email create fear or pressure? Legitimate organisations don't threaten immediate account deletion.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65760" y="3483864"/>
            <a:ext cx="84124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65760" y="3483864"/>
            <a:ext cx="64008" cy="65836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48640" y="3593592"/>
            <a:ext cx="438912" cy="438912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48640" y="3593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611880"/>
            <a:ext cx="384048" cy="38404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627632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Request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627632" y="383133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request for money, passwords, or personal data? Pick up the phone and call the person directly.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65760" y="4233672"/>
            <a:ext cx="84124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65760" y="4233672"/>
            <a:ext cx="64008" cy="658368"/>
          </a:xfrm>
          <a:prstGeom prst="rect">
            <a:avLst/>
          </a:prstGeom>
          <a:solidFill>
            <a:srgbClr val="9C59D1"/>
          </a:solidFill>
          <a:ln w="12700">
            <a:solidFill>
              <a:srgbClr val="9C59D1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548640" y="4343400"/>
            <a:ext cx="438912" cy="438912"/>
          </a:xfrm>
          <a:prstGeom prst="ellipse">
            <a:avLst/>
          </a:prstGeom>
          <a:solidFill>
            <a:srgbClr val="9C59D1"/>
          </a:solidFill>
          <a:ln w="12700">
            <a:solidFill>
              <a:srgbClr val="9C59D1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48640" y="4343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361688"/>
            <a:ext cx="384048" cy="38404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627632" y="4306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 — Report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1627632" y="458114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100% sure? Don't guess. Report to your IT team. It takes 10 seconds and could prevent a major breach.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these 4 golden rules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20240" cy="361188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325880"/>
            <a:ext cx="822960" cy="822960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25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" y="2788920"/>
            <a:ext cx="170078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 before you click on any link or attachment, especially if the email feels urgent or unexpected.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143000"/>
            <a:ext cx="1920240" cy="361188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7520" y="1325880"/>
            <a:ext cx="822960" cy="82296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325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78608" y="2788920"/>
            <a:ext cx="170078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carefully at the sender's address, the URL of any links, and the overall tone and grammar.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143000"/>
            <a:ext cx="1920240" cy="361188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66360" y="1325880"/>
            <a:ext cx="822960" cy="82296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325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0916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8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27448" y="2788920"/>
            <a:ext cx="170078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any suspicious request through a separate trusted channel — call the sender directly.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143000"/>
            <a:ext cx="1920240" cy="361188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1325880"/>
            <a:ext cx="822960" cy="82296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325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5800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76288" y="2788920"/>
            <a:ext cx="170078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suspected phishing to your IT/security team immediately. One report can prevent a major breach.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74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6334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Alert  •  Think Before You Click  •  Stay Secure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743200" y="3200400"/>
            <a:ext cx="3657600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0" y="3401568"/>
            <a:ext cx="4572000" cy="594360"/>
          </a:xfrm>
          <a:prstGeom prst="rect">
            <a:avLst/>
          </a:prstGeom>
          <a:solidFill>
            <a:srgbClr val="21262D"/>
          </a:solidFill>
          <a:ln w="12700">
            <a:solidFill>
              <a:srgbClr val="1C2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286000" y="34015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as part of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Cybersecurity Internship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your IT Security team.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PptxGenJS</dc:creator>
  <cp:lastModifiedBy>PptxGenJS</cp:lastModifiedBy>
  <cp:revision>1</cp:revision>
  <dcterms:created xsi:type="dcterms:W3CDTF">2026-05-16T09:48:30Z</dcterms:created>
  <dcterms:modified xsi:type="dcterms:W3CDTF">2026-05-16T09:48:30Z</dcterms:modified>
</cp:coreProperties>
</file>